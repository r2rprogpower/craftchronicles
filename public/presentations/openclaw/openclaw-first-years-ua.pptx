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94360"/>
            <a:ext cx="2971800" cy="2971800"/>
          </a:xfrm>
          <a:prstGeom prst="ellipse">
            <a:avLst/>
          </a:prstGeom>
          <a:solidFill>
            <a:srgbClr val="111A31"/>
          </a:solidFill>
          <a:ln w="25400">
            <a:solidFill>
              <a:srgbClr val="39E6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234440"/>
            <a:ext cx="1691640" cy="1691640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19488" y="1709928"/>
            <a:ext cx="731520" cy="731520"/>
          </a:xfrm>
          <a:prstGeom prst="ellipse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19488" y="1709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65836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51D35"/>
          </a:solidFill>
          <a:ln w="12700">
            <a:solidFill>
              <a:srgbClr val="3140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76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ПРАКТИЧНИЙ ВСТУП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848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ШІ, який не лише відповідає — а діє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017520"/>
            <a:ext cx="6766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D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 перетворити рутину на автоматизовані процеси, а цікавість — на реальні експерименти.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251960"/>
            <a:ext cx="6537960" cy="0"/>
          </a:xfrm>
          <a:prstGeom prst="line">
            <a:avLst/>
          </a:prstGeom>
          <a:noFill/>
          <a:ln w="12700">
            <a:solidFill>
              <a:srgbClr val="3441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46227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слайдів • 15 хвилин • 1 ідея для запуску сьогодні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4069080"/>
            <a:ext cx="3154680" cy="1234440"/>
          </a:xfrm>
          <a:prstGeom prst="roundRect">
            <a:avLst>
              <a:gd name="adj" fmla="val 16296"/>
            </a:avLst>
          </a:prstGeom>
          <a:solidFill>
            <a:srgbClr val="151D35"/>
          </a:solidFill>
          <a:ln w="12700">
            <a:solidFill>
              <a:srgbClr val="3340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42976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ЗАПИТ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64040" y="4370832"/>
            <a:ext cx="320040" cy="320040"/>
          </a:xfrm>
          <a:prstGeom prst="chevron">
            <a:avLst/>
          </a:prstGeom>
          <a:solidFill>
            <a:srgbClr val="39E6D0"/>
          </a:solidFill>
          <a:ln w="12700">
            <a:solidFill>
              <a:srgbClr val="39E6D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1240" y="42976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ДІЯ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88752" y="4370832"/>
            <a:ext cx="320040" cy="320040"/>
          </a:xfrm>
          <a:prstGeom prst="chevron">
            <a:avLst/>
          </a:prstGeom>
          <a:solidFill>
            <a:srgbClr val="9A8BFF"/>
          </a:solidFill>
          <a:ln w="12700">
            <a:solidFill>
              <a:srgbClr val="9A8B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91088" y="42976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723376" y="4736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думка → система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ОСНОВНА ІДЕЯ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— це операційний шар для ШІ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Він поєднує мовну модель, інструменти, пам’ять і канали зв’язку в одного керованого агента.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2212848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29968"/>
            <a:ext cx="73152" cy="2148840"/>
          </a:xfrm>
          <a:prstGeom prst="rect">
            <a:avLst/>
          </a:prstGeom>
          <a:solidFill>
            <a:srgbClr val="6E5CFF"/>
          </a:solidFill>
          <a:ln w="12700">
            <a:solidFill>
              <a:srgbClr val="6E5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49424"/>
            <a:ext cx="411480" cy="411480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128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Розуміє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688336"/>
            <a:ext cx="17007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природну мову та контекст задачі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907792"/>
            <a:ext cx="256032" cy="320040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2029968"/>
            <a:ext cx="2212848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2029968"/>
            <a:ext cx="73152" cy="2148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2249424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2152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22128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Планує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688336"/>
            <a:ext cx="17007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послідовність кроків і перевірок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59552" y="2907792"/>
            <a:ext cx="256032" cy="320040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2029968"/>
            <a:ext cx="2212848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7024" y="2029968"/>
            <a:ext cx="73152" cy="2148840"/>
          </a:xfrm>
          <a:prstGeom prst="rect">
            <a:avLst/>
          </a:prstGeom>
          <a:solidFill>
            <a:srgbClr val="0EA897"/>
          </a:solidFill>
          <a:ln w="12700">
            <a:solidFill>
              <a:srgbClr val="0EA89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2249424"/>
            <a:ext cx="411480" cy="411480"/>
          </a:xfrm>
          <a:prstGeom prst="ellipse">
            <a:avLst/>
          </a:prstGeom>
          <a:solidFill>
            <a:srgbClr val="0EA897"/>
          </a:solidFill>
          <a:ln w="12700">
            <a:solidFill>
              <a:srgbClr val="0EA8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35624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84264" y="22128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Діє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2688336"/>
            <a:ext cx="17007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через файли, браузер, код, сервіси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2907792"/>
            <a:ext cx="256032" cy="320040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0496" y="2029968"/>
            <a:ext cx="2212848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0496" y="2029968"/>
            <a:ext cx="73152" cy="2148840"/>
          </a:xfrm>
          <a:prstGeom prst="rect">
            <a:avLst/>
          </a:prstGeom>
          <a:solidFill>
            <a:srgbClr val="2CCB7F"/>
          </a:solidFill>
          <a:ln w="12700">
            <a:solidFill>
              <a:srgbClr val="2CCB7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096" y="2249424"/>
            <a:ext cx="411480" cy="411480"/>
          </a:xfrm>
          <a:prstGeom prst="ellipse">
            <a:avLst/>
          </a:prstGeom>
          <a:solidFill>
            <a:srgbClr val="2CCB7F"/>
          </a:solidFill>
          <a:ln w="12700">
            <a:solidFill>
              <a:srgbClr val="2CCB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69096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317736" y="22128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Повертає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796528" y="2688336"/>
            <a:ext cx="17007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готовий результат і слід виконання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590288"/>
            <a:ext cx="10104120" cy="1115568"/>
          </a:xfrm>
          <a:prstGeom prst="roundRect">
            <a:avLst>
              <a:gd name="adj" fmla="val 14754"/>
            </a:avLst>
          </a:prstGeom>
          <a:solidFill>
            <a:srgbClr val="E9EEFF"/>
          </a:solidFill>
          <a:ln w="12700">
            <a:solidFill>
              <a:srgbClr val="D9E0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4828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Звичайний чат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578608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відповідь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681728" y="48280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053328" y="4828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відповідь + дія + автоматизація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160520" y="4754880"/>
            <a:ext cx="0" cy="566928"/>
          </a:xfrm>
          <a:prstGeom prst="line">
            <a:avLst/>
          </a:prstGeom>
          <a:noFill/>
          <a:ln w="12700">
            <a:solidFill>
              <a:srgbClr val="BCC6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64040" y="5001768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6E5CFF"/>
          </a:solidFill>
          <a:ln w="12700">
            <a:solidFill>
              <a:srgbClr val="6E5C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55480" y="50200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КЛЮЧОВА РІЗНИЦЯ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МОЖЛИВОСТІ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можна доручити агенту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Починайте з одного процесу. Додавайте інструменти тільки тоді, коли вони справді потрібні.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57984"/>
            <a:ext cx="347472" cy="347472"/>
          </a:xfrm>
          <a:prstGeom prst="ellipse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0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Дослідження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65176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зібрати джерела, порівняти позиції, виділити прогалини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1901952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157984"/>
            <a:ext cx="347472" cy="347472"/>
          </a:xfrm>
          <a:prstGeom prst="ellipse">
            <a:avLst/>
          </a:prstGeom>
          <a:solidFill>
            <a:srgbClr val="9A8BFF"/>
          </a:solidFill>
          <a:ln w="12700">
            <a:solidFill>
              <a:srgbClr val="9A8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130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Файли й документи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65176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створити конспект, таблицю, звіт, презентацію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84464" y="1901952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215798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0496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034272" y="2130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і дані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40496" y="265176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пояснити помилку, запустити аналіз, побудувати прототип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041648"/>
            <a:ext cx="347472" cy="34747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4014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Браузер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535424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пройти багатокроковий вебсценарій під вашим контролем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62272" y="3785616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4041648"/>
            <a:ext cx="347472" cy="347472"/>
          </a:xfrm>
          <a:prstGeom prst="ellipse">
            <a:avLst/>
          </a:prstGeom>
          <a:solidFill>
            <a:srgbClr val="2CCB7F"/>
          </a:solidFill>
          <a:ln w="12700">
            <a:solidFill>
              <a:srgbClr val="2CCB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4014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Комунікації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718304" y="4535424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підготувати відповідь, знайти важливе, надіслати після дозволу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84464" y="3785616"/>
            <a:ext cx="3429000" cy="1481328"/>
          </a:xfrm>
          <a:prstGeom prst="roundRect">
            <a:avLst>
              <a:gd name="adj" fmla="val 11111"/>
            </a:avLst>
          </a:prstGeom>
          <a:solidFill>
            <a:srgbClr val="151D35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0496" y="4041648"/>
            <a:ext cx="347472" cy="347472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049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40142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Автоматизації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540496" y="4535424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нагадувати, перевіряти зміни, запускати регулярні задачі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МЕХАНІКА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 запит перетворюється на результат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Людина задає ціль і межі. Агент пропонує план, використовує дозволені інструменти та перевіряє результат.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176272"/>
            <a:ext cx="658368" cy="65836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6265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Ціль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467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має змінитися?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505456"/>
            <a:ext cx="914400" cy="0"/>
          </a:xfrm>
          <a:prstGeom prst="line">
            <a:avLst/>
          </a:prstGeom>
          <a:noFill/>
          <a:ln w="25400">
            <a:solidFill>
              <a:srgbClr val="AAB5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2350008"/>
            <a:ext cx="256032" cy="310896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176272"/>
            <a:ext cx="658368" cy="65836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96265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3467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Дані, правила, дедлайн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4528" y="2505456"/>
            <a:ext cx="914400" cy="0"/>
          </a:xfrm>
          <a:prstGeom prst="line">
            <a:avLst/>
          </a:prstGeom>
          <a:noFill/>
          <a:ln w="25400">
            <a:solidFill>
              <a:srgbClr val="AAB5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2350008"/>
            <a:ext cx="256032" cy="310896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2176272"/>
            <a:ext cx="658368" cy="65836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7296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96265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3467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Кроки та інструменти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28816" y="2505456"/>
            <a:ext cx="914400" cy="0"/>
          </a:xfrm>
          <a:prstGeom prst="line">
            <a:avLst/>
          </a:prstGeom>
          <a:noFill/>
          <a:ln w="25400">
            <a:solidFill>
              <a:srgbClr val="AAB5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350008"/>
            <a:ext cx="256032" cy="310896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2176272"/>
            <a:ext cx="658368" cy="65836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96265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Дія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33467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Виконання з дозволами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33104" y="2505456"/>
            <a:ext cx="914400" cy="0"/>
          </a:xfrm>
          <a:prstGeom prst="line">
            <a:avLst/>
          </a:prstGeom>
          <a:noFill/>
          <a:ln w="25400">
            <a:solidFill>
              <a:srgbClr val="AAB5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73768" y="2350008"/>
            <a:ext cx="256032" cy="310896"/>
          </a:xfrm>
          <a:prstGeom prst="chevron">
            <a:avLst/>
          </a:prstGeom>
          <a:solidFill>
            <a:srgbClr val="AAB5C7"/>
          </a:solidFill>
          <a:ln w="12700">
            <a:solidFill>
              <a:srgbClr val="AAB5C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5872" y="2176272"/>
            <a:ext cx="658368" cy="658368"/>
          </a:xfrm>
          <a:prstGeom prst="ellipse">
            <a:avLst/>
          </a:prstGeom>
          <a:solidFill>
            <a:srgbClr val="0EA897"/>
          </a:solidFill>
          <a:ln w="12700">
            <a:solidFill>
              <a:srgbClr val="0EA89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587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38944" y="296265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Перевірка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38944" y="33467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Якість, джерела, ризики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78992" y="4608576"/>
            <a:ext cx="9994392" cy="932688"/>
          </a:xfrm>
          <a:prstGeom prst="roundRect">
            <a:avLst>
              <a:gd name="adj" fmla="val 19608"/>
            </a:avLst>
          </a:prstGeom>
          <a:solidFill>
            <a:srgbClr val="10172A"/>
          </a:solidFill>
          <a:ln w="12700">
            <a:solidFill>
              <a:srgbClr val="10172A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89888" y="4837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ЛЮДИНА В КОНТУРІ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182112" y="4837176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підтверджує зовнішні дії • коригує напрям • приймає фінальне рішення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СЦЕНАРІЙ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день студента з OpenClaw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“зроби все за мене”, а “допоможи мені швидше зрозуміти, організувати й перевірити”.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944368"/>
            <a:ext cx="9829800" cy="0"/>
          </a:xfrm>
          <a:prstGeom prst="line">
            <a:avLst/>
          </a:prstGeom>
          <a:noFill/>
          <a:ln w="50800">
            <a:solidFill>
              <a:srgbClr val="3541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587752"/>
            <a:ext cx="713232" cy="713232"/>
          </a:xfrm>
          <a:prstGeom prst="ellipse">
            <a:avLst/>
          </a:prstGeom>
          <a:solidFill>
            <a:srgbClr val="0B1020"/>
          </a:solidFill>
          <a:ln w="50800">
            <a:solidFill>
              <a:srgbClr val="39E6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798064"/>
            <a:ext cx="292608" cy="292608"/>
          </a:xfrm>
          <a:prstGeom prst="ellipse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9751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 дня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840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пріоритети + дедлайни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47872" y="2587752"/>
            <a:ext cx="713232" cy="713232"/>
          </a:xfrm>
          <a:prstGeom prst="ellipse">
            <a:avLst/>
          </a:prstGeom>
          <a:solidFill>
            <a:srgbClr val="0B1020"/>
          </a:solidFill>
          <a:ln w="50800">
            <a:solidFill>
              <a:srgbClr val="9A8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798064"/>
            <a:ext cx="292608" cy="292608"/>
          </a:xfrm>
          <a:prstGeom prst="ellipse">
            <a:avLst/>
          </a:prstGeom>
          <a:solidFill>
            <a:srgbClr val="9A8BFF"/>
          </a:solidFill>
          <a:ln w="12700">
            <a:solidFill>
              <a:srgbClr val="9A8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9751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10:30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парою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840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тез із теми + питання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15584" y="2587752"/>
            <a:ext cx="713232" cy="713232"/>
          </a:xfrm>
          <a:prstGeom prst="ellipse">
            <a:avLst/>
          </a:prstGeom>
          <a:solidFill>
            <a:srgbClr val="0B1020"/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279806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3792" y="19751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Дослідження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840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матриця джерел і суперечностей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83296" y="2587752"/>
            <a:ext cx="713232" cy="713232"/>
          </a:xfrm>
          <a:prstGeom prst="ellipse">
            <a:avLst/>
          </a:prstGeom>
          <a:solidFill>
            <a:srgbClr val="0B1020"/>
          </a:solidFill>
          <a:ln w="50800">
            <a:solidFill>
              <a:srgbClr val="FFC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2798064"/>
            <a:ext cx="292608" cy="2926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61504" y="19751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18:00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Лабораторна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3840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розбір помилки без готової “магії”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51008" y="2587752"/>
            <a:ext cx="713232" cy="713232"/>
          </a:xfrm>
          <a:prstGeom prst="ellipse">
            <a:avLst/>
          </a:prstGeom>
          <a:solidFill>
            <a:srgbClr val="0B1020"/>
          </a:solidFill>
          <a:ln w="50800">
            <a:solidFill>
              <a:srgbClr val="2CCB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2798064"/>
            <a:ext cx="292608" cy="292608"/>
          </a:xfrm>
          <a:prstGeom prst="ellipse">
            <a:avLst/>
          </a:prstGeom>
          <a:solidFill>
            <a:srgbClr val="2CCB7F"/>
          </a:solidFill>
          <a:ln w="12700">
            <a:solidFill>
              <a:srgbClr val="2CCB7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9216" y="19751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C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21:00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Рефлексія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3840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вивчив + наступний крок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93392" y="5120640"/>
            <a:ext cx="8211312" cy="658368"/>
          </a:xfrm>
          <a:prstGeom prst="roundRect">
            <a:avLst>
              <a:gd name="adj" fmla="val 25000"/>
            </a:avLst>
          </a:prstGeom>
          <a:solidFill>
            <a:srgbClr val="151D35"/>
          </a:solidFill>
          <a:ln w="12700">
            <a:solidFill>
              <a:srgbClr val="2E3A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13432" y="5321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дня: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840480" y="5321808"/>
            <a:ext cx="6016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менше перемикань • більше усвідомленої роботи • видимий прогрес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АВТОМАТИЗАЦІЯ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ідей, з яких легко почати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Обирайте повторювану дію з чітким входом, зрозумілим результатом і низьким ризиком.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86307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65960"/>
            <a:ext cx="402336" cy="402336"/>
          </a:xfrm>
          <a:prstGeom prst="ellipse">
            <a:avLst/>
          </a:prstGeom>
          <a:solidFill>
            <a:srgbClr val="0EA897"/>
          </a:solidFill>
          <a:ln w="12700">
            <a:solidFill>
              <a:srgbClr val="0EA8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94767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Радар дедлайнів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1947672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щоденна перевірка календаря → список на 7 днів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966960" y="20116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D5F8F3"/>
          </a:solidFill>
          <a:ln w="12700">
            <a:solidFill>
              <a:srgbClr val="D5F8F3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0" y="20299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8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хв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651760"/>
            <a:ext cx="10863072" cy="640080"/>
          </a:xfrm>
          <a:prstGeom prst="roundRect">
            <a:avLst>
              <a:gd name="adj" fmla="val 20000"/>
            </a:avLst>
          </a:prstGeom>
          <a:solidFill>
            <a:srgbClr val="EDF1F7"/>
          </a:solidFill>
          <a:ln w="12700">
            <a:solidFill>
              <a:srgbClr val="EDF1F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2770632"/>
            <a:ext cx="402336" cy="402336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275234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Дайджест курсу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2752344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посилання й нотатки → коротке резюме з питаннями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66960" y="281635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E0FF"/>
          </a:solidFill>
          <a:ln w="12700">
            <a:solidFill>
              <a:srgbClr val="E4E0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0" y="28346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10–15 хв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456432"/>
            <a:ext cx="1086307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575304"/>
            <a:ext cx="402336" cy="402336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35570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Матриця джерел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39312" y="3557016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тема → автор, теза, метод, обмеження, цитата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966960" y="3621024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E0FF"/>
          </a:solidFill>
          <a:ln w="12700">
            <a:solidFill>
              <a:srgbClr val="E4E0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0" y="363931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15–25 хв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261104"/>
            <a:ext cx="10863072" cy="640080"/>
          </a:xfrm>
          <a:prstGeom prst="roundRect">
            <a:avLst>
              <a:gd name="adj" fmla="val 20000"/>
            </a:avLst>
          </a:prstGeom>
          <a:solidFill>
            <a:srgbClr val="EDF1F7"/>
          </a:solidFill>
          <a:ln w="12700">
            <a:solidFill>
              <a:srgbClr val="EDF1F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379976"/>
            <a:ext cx="402336" cy="402336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9536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444752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Журнал помилок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39312" y="4361688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 або скрин → гіпотеза, тест, висновок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966960" y="442569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E0FF"/>
          </a:solidFill>
          <a:ln w="12700">
            <a:solidFill>
              <a:srgbClr val="E4E0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0" y="44439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хв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5065776"/>
            <a:ext cx="1086307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" y="5184648"/>
            <a:ext cx="402336" cy="402336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444752" y="5166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Щотижневий огляд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639312" y="5166360"/>
            <a:ext cx="6062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задачі + нотатки → прогрес і план наступного тижня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966960" y="523036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E0FF"/>
          </a:solidFill>
          <a:ln w="12700">
            <a:solidFill>
              <a:srgbClr val="E4E0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58400" y="524865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хв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641080" y="5989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 на перший прототип, не “раз і назавжди”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КОМУНІКАЦІЯ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Формула сильного запиту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Якість результату зростає, коли ви описуєте не лише тему, а й критерій готовності.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1993392" cy="1115568"/>
          </a:xfrm>
          <a:prstGeom prst="roundRect">
            <a:avLst>
              <a:gd name="adj" fmla="val 14754"/>
            </a:avLst>
          </a:prstGeom>
          <a:solidFill>
            <a:srgbClr val="151D35"/>
          </a:solidFill>
          <a:ln w="12700">
            <a:solidFill>
              <a:srgbClr val="2D39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74520"/>
            <a:ext cx="1993392" cy="82296"/>
          </a:xfrm>
          <a:prstGeom prst="rect">
            <a:avLst/>
          </a:prstGeom>
          <a:solidFill>
            <a:srgbClr val="9A8BFF"/>
          </a:solidFill>
          <a:ln w="12700">
            <a:solidFill>
              <a:srgbClr val="9A8B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323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Ким бути?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2128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907792" y="1874520"/>
            <a:ext cx="1993392" cy="1115568"/>
          </a:xfrm>
          <a:prstGeom prst="roundRect">
            <a:avLst>
              <a:gd name="adj" fmla="val 14754"/>
            </a:avLst>
          </a:prstGeom>
          <a:solidFill>
            <a:srgbClr val="151D35"/>
          </a:solidFill>
          <a:ln w="12700">
            <a:solidFill>
              <a:srgbClr val="2D39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1874520"/>
            <a:ext cx="1993392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24323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вже відомо?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2128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93792" y="1874520"/>
            <a:ext cx="1993392" cy="1115568"/>
          </a:xfrm>
          <a:prstGeom prst="roundRect">
            <a:avLst>
              <a:gd name="adj" fmla="val 14754"/>
            </a:avLst>
          </a:prstGeom>
          <a:solidFill>
            <a:srgbClr val="151D35"/>
          </a:solidFill>
          <a:ln w="12700">
            <a:solidFill>
              <a:srgbClr val="2D39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74520"/>
            <a:ext cx="1993392" cy="82296"/>
          </a:xfrm>
          <a:prstGeom prst="rect">
            <a:avLst/>
          </a:prstGeom>
          <a:solidFill>
            <a:srgbClr val="39E6D0"/>
          </a:solidFill>
          <a:ln w="12700">
            <a:solidFill>
              <a:srgbClr val="39E6D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76672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24323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створити?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2128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79792" y="1874520"/>
            <a:ext cx="1993392" cy="1115568"/>
          </a:xfrm>
          <a:prstGeom prst="roundRect">
            <a:avLst>
              <a:gd name="adj" fmla="val 14754"/>
            </a:avLst>
          </a:prstGeom>
          <a:solidFill>
            <a:srgbClr val="151D35"/>
          </a:solidFill>
          <a:ln w="12700">
            <a:solidFill>
              <a:srgbClr val="2D39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9792" y="1874520"/>
            <a:ext cx="1993392" cy="8229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62672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МЕЖІ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62672" y="24323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не робити?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22128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765792" y="1874520"/>
            <a:ext cx="1993392" cy="1115568"/>
          </a:xfrm>
          <a:prstGeom prst="roundRect">
            <a:avLst>
              <a:gd name="adj" fmla="val 14754"/>
            </a:avLst>
          </a:prstGeom>
          <a:solidFill>
            <a:srgbClr val="151D35"/>
          </a:solidFill>
          <a:ln w="12700">
            <a:solidFill>
              <a:srgbClr val="2D39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65792" y="1874520"/>
            <a:ext cx="1993392" cy="82296"/>
          </a:xfrm>
          <a:prstGeom prst="rect">
            <a:avLst/>
          </a:prstGeom>
          <a:solidFill>
            <a:srgbClr val="2CCB7F"/>
          </a:solidFill>
          <a:ln w="12700">
            <a:solidFill>
              <a:srgbClr val="2CCB7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48672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C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ПЕРЕВІРКА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948672" y="24323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 довести якість?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401568"/>
            <a:ext cx="10863072" cy="2139696"/>
          </a:xfrm>
          <a:prstGeom prst="roundRect">
            <a:avLst>
              <a:gd name="adj" fmla="val 8547"/>
            </a:avLst>
          </a:prstGeom>
          <a:solidFill>
            <a:srgbClr val="10172A"/>
          </a:solidFill>
          <a:ln w="12700">
            <a:solidFill>
              <a:srgbClr val="2F3A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36758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6E5CFF"/>
          </a:solidFill>
          <a:ln w="12700">
            <a:solidFill>
              <a:srgbClr val="6E5C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3694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4114800"/>
            <a:ext cx="996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“Ти — дослідницький асистент. Для першокурсника порівняй 5 надійних джерел про вплив генеративного ШІ на освіту. Створи таблицю: теза, метод, обмеження, посилання. Не вигадуй цитат. Познач суперечності та запропонуй 3 питання для дискусії.”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" y="5193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Порада: просіть показати невизначеність — це корисніше за впевнений тон.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ВІДПОВІДАЛЬНІСТЬ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ШІ-помічник ≠ автопілот без правил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Автоматизація посилює як користь, так і помилки. Тому межі та перевірка — частина дизайну процесу.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074920" cy="1298448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73152" cy="1298448"/>
          </a:xfrm>
          <a:prstGeom prst="rect">
            <a:avLst/>
          </a:prstGeom>
          <a:solidFill>
            <a:srgbClr val="6E5CFF"/>
          </a:solidFill>
          <a:ln w="12700">
            <a:solidFill>
              <a:srgbClr val="6E5C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Приватність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32888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передавайте персональні дані, ключі доступу, закриті матеріали.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0488" y="1874520"/>
            <a:ext cx="5074920" cy="1298448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874520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Перевірка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32888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Звіряйте факти, цитати, формули та посилання з першоджерелами.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465576"/>
            <a:ext cx="5074920" cy="1298448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465576"/>
            <a:ext cx="73152" cy="1298448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648456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Дозволи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2394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Надсилання, публікація, оплата й видалення — тільки після підтвердження.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3465576"/>
            <a:ext cx="5074920" cy="1298448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3465576"/>
            <a:ext cx="73152" cy="1298448"/>
          </a:xfrm>
          <a:prstGeom prst="rect">
            <a:avLst/>
          </a:prstGeom>
          <a:solidFill>
            <a:srgbClr val="2CCB7F"/>
          </a:solidFill>
          <a:ln w="12700">
            <a:solidFill>
              <a:srgbClr val="2CCB7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648456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Доброчесність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2394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Використовуйте ШІ, щоб вчитися; не маскуйте чужу роботу під власну.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5120640"/>
            <a:ext cx="10863072" cy="694944"/>
          </a:xfrm>
          <a:prstGeom prst="roundRect">
            <a:avLst>
              <a:gd name="adj" fmla="val 23684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5321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Правило паузи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542032" y="5321808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Якщо дію важко скасувати або вона впливає на інших — зупиніться й підтвердьте її вручну.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ПРАКТИКА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Перший проєкт: “Радар дедлайнів”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Мета: раз на день отримувати короткий список подій і задач на наступні 7 днів.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151D35"/>
          </a:solidFill>
          <a:ln w="12700">
            <a:solidFill>
              <a:srgbClr val="2C38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965960"/>
          </a:xfrm>
          <a:prstGeom prst="rect">
            <a:avLst/>
          </a:prstGeom>
          <a:solidFill>
            <a:srgbClr val="9A8BFF"/>
          </a:solidFill>
          <a:ln w="12700">
            <a:solidFill>
              <a:srgbClr val="9A8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39696"/>
            <a:ext cx="411480" cy="411480"/>
          </a:xfrm>
          <a:prstGeom prst="ellipse">
            <a:avLst/>
          </a:prstGeom>
          <a:solidFill>
            <a:srgbClr val="9A8BFF"/>
          </a:solidFill>
          <a:ln w="12700">
            <a:solidFill>
              <a:srgbClr val="9A8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03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Вхід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578608"/>
            <a:ext cx="19751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A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календар або список задач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2724912"/>
            <a:ext cx="219456" cy="310896"/>
          </a:xfrm>
          <a:prstGeom prst="chevron">
            <a:avLst/>
          </a:prstGeom>
          <a:solidFill>
            <a:srgbClr val="68748E"/>
          </a:solidFill>
          <a:ln w="12700">
            <a:solidFill>
              <a:srgbClr val="68748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920240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151D35"/>
          </a:solidFill>
          <a:ln w="12700">
            <a:solidFill>
              <a:srgbClr val="2C38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920240"/>
            <a:ext cx="73152" cy="1965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2139696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85032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33672" y="2103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12464" y="2578608"/>
            <a:ext cx="19751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A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лише 7 днів; сортувати за терміновістю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2724912"/>
            <a:ext cx="219456" cy="310896"/>
          </a:xfrm>
          <a:prstGeom prst="chevron">
            <a:avLst/>
          </a:prstGeom>
          <a:solidFill>
            <a:srgbClr val="68748E"/>
          </a:solidFill>
          <a:ln w="12700">
            <a:solidFill>
              <a:srgbClr val="68748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920240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151D35"/>
          </a:solidFill>
          <a:ln w="12700">
            <a:solidFill>
              <a:srgbClr val="2C3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920240"/>
            <a:ext cx="73152" cy="1965960"/>
          </a:xfrm>
          <a:prstGeom prst="rect">
            <a:avLst/>
          </a:prstGeom>
          <a:solidFill>
            <a:srgbClr val="39E6D0"/>
          </a:solidFill>
          <a:ln w="12700">
            <a:solidFill>
              <a:srgbClr val="39E6D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1384" y="2139696"/>
            <a:ext cx="411480" cy="411480"/>
          </a:xfrm>
          <a:prstGeom prst="ellipse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1384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0024" y="2103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Вихід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28816" y="2578608"/>
            <a:ext cx="19751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A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блоки: сьогодні / скоро / пізніше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05672" y="2724912"/>
            <a:ext cx="219456" cy="310896"/>
          </a:xfrm>
          <a:prstGeom prst="chevron">
            <a:avLst/>
          </a:prstGeom>
          <a:solidFill>
            <a:srgbClr val="68748E"/>
          </a:solidFill>
          <a:ln w="12700">
            <a:solidFill>
              <a:srgbClr val="68748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920240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151D35"/>
          </a:solidFill>
          <a:ln w="12700">
            <a:solidFill>
              <a:srgbClr val="2C38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89136" y="1920240"/>
            <a:ext cx="73152" cy="1965960"/>
          </a:xfrm>
          <a:prstGeom prst="rect">
            <a:avLst/>
          </a:prstGeom>
          <a:solidFill>
            <a:srgbClr val="2CCB7F"/>
          </a:solidFill>
          <a:ln w="12700">
            <a:solidFill>
              <a:srgbClr val="2CCB7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17736" y="2139696"/>
            <a:ext cx="411480" cy="411480"/>
          </a:xfrm>
          <a:prstGeom prst="ellipse">
            <a:avLst/>
          </a:prstGeom>
          <a:solidFill>
            <a:srgbClr val="2CCB7F"/>
          </a:solidFill>
          <a:ln w="12700">
            <a:solidFill>
              <a:srgbClr val="2CCB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17736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866376" y="2103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345168" y="2578608"/>
            <a:ext cx="19751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A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нічого не змінювати без підтвердження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97280" y="4407408"/>
            <a:ext cx="9994392" cy="1042416"/>
          </a:xfrm>
          <a:prstGeom prst="roundRect">
            <a:avLst>
              <a:gd name="adj" fmla="val 15789"/>
            </a:avLst>
          </a:prstGeom>
          <a:solidFill>
            <a:srgbClr val="10172A"/>
          </a:solidFill>
          <a:ln w="12700">
            <a:solidFill>
              <a:srgbClr val="3040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89888" y="464515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Критерій успіху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273552" y="4645152"/>
            <a:ext cx="7205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 нічого не пропустили, список читається за 30 секунд, помилки легко виправити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070848" y="5705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≈ 30 хвилин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4E0FF"/>
          </a:solidFill>
          <a:ln w="12700">
            <a:solidFill>
              <a:srgbClr val="E4E0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585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ВАШ ХІД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7899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7-денний експеримент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681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Оберіть одну повторювану задачу — і перетворіть її на керований процес.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" y="2816352"/>
            <a:ext cx="384048" cy="38404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79806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Спостерігайте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7980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 губиться час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3419856"/>
            <a:ext cx="384048" cy="38404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34015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Опишіть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34015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вхід, вихід, межі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" y="4023360"/>
            <a:ext cx="384048" cy="38404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4–5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40050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Зберіть MVP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52928" y="4005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і протестуйте на 3 кейсах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" y="4626864"/>
            <a:ext cx="384048" cy="384048"/>
          </a:xfrm>
          <a:prstGeom prst="ellipse">
            <a:avLst/>
          </a:prstGeom>
          <a:solidFill>
            <a:srgbClr val="6E5CFF"/>
          </a:solidFill>
          <a:ln w="12700">
            <a:solidFill>
              <a:srgbClr val="6E5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6085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Перевірте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852928" y="46085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помилки та безпеку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4944" y="5230368"/>
            <a:ext cx="384048" cy="384048"/>
          </a:xfrm>
          <a:prstGeom prst="ellipse">
            <a:avLst/>
          </a:prstGeom>
          <a:solidFill>
            <a:srgbClr val="0EA897"/>
          </a:solidFill>
          <a:ln w="12700">
            <a:solidFill>
              <a:srgbClr val="0EA8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2120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Покажіть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852928" y="52120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одногрупникам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731520"/>
            <a:ext cx="3886200" cy="5340096"/>
          </a:xfrm>
          <a:prstGeom prst="roundRect">
            <a:avLst>
              <a:gd name="adj" fmla="val 6588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1408176"/>
            <a:ext cx="1938528" cy="1938528"/>
          </a:xfrm>
          <a:prstGeom prst="ellipse">
            <a:avLst/>
          </a:prstGeom>
          <a:solidFill>
            <a:srgbClr val="121B31"/>
          </a:solidFill>
          <a:ln w="25400">
            <a:solidFill>
              <a:srgbClr val="39E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5712" y="1920240"/>
            <a:ext cx="914400" cy="914400"/>
          </a:xfrm>
          <a:prstGeom prst="ellipse">
            <a:avLst/>
          </a:prstGeom>
          <a:solidFill>
            <a:srgbClr val="39E6D0"/>
          </a:solidFill>
          <a:ln w="12700">
            <a:solidFill>
              <a:srgbClr val="39E6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25712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37124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чекайте “ідеального” кейсу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4535424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Найкращий спосіб зрозуміти агентів — створити маленьку корисну автоматизацію власноруч.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19872" y="562356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E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ПИТАННЯ → ЕКСПЕРИМЕНТ → СИСТЕМА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6446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8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• ВСТУП ДЛЯ ПЕРШОКУРСНИКІВ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570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OpenClaw: від запиту до дії</dc:title>
  <dc:subject>Практичний вступ до OpenClaw для першокурсників</dc:subject>
  <dc:creator>OpenClaw</dc:creator>
  <cp:lastModifiedBy>OpenClaw</cp:lastModifiedBy>
  <cp:revision>1</cp:revision>
  <dcterms:created xsi:type="dcterms:W3CDTF">2026-09-22T12:39:17Z</dcterms:created>
  <dcterms:modified xsi:type="dcterms:W3CDTF">2026-09-22T12:39:17Z</dcterms:modified>
</cp:coreProperties>
</file>